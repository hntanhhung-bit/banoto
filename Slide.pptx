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logo_hunre"/>
          <p:cNvPicPr>
            <a:picLocks noChangeAspect="1"/>
          </p:cNvPicPr>
          <p:nvPr/>
        </p:nvPicPr>
        <p:blipFill>
          <a:blip r:embed="rId1"/>
          <a:stretch>
            <a:fillRect/>
          </a:stretch>
        </p:blipFill>
        <p:spPr>
          <a:xfrm>
            <a:off x="508000" y="381000"/>
            <a:ext cx="825500" cy="825500"/>
          </a:xfrm>
          <a:prstGeom prst="rect">
            <a:avLst/>
          </a:prstGeom>
        </p:spPr>
      </p:pic>
      <p:sp>
        <p:nvSpPr>
          <p:cNvPr id="3" name="Text Box 2"/>
          <p:cNvSpPr txBox="1"/>
          <p:nvPr/>
        </p:nvSpPr>
        <p:spPr>
          <a:xfrm>
            <a:off x="1524000" y="381000"/>
            <a:ext cx="7112000" cy="491490"/>
          </a:xfrm>
          <a:prstGeom prst="rect">
            <a:avLst/>
          </a:prstGeom>
          <a:noFill/>
        </p:spPr>
        <p:txBody>
          <a:bodyPr wrap="square" rtlCol="0" anchor="t">
            <a:spAutoFit/>
          </a:bodyPr>
          <a:p>
            <a:r>
              <a:rPr lang="vi-VN" sz="1300" b="1">
                <a:solidFill>
                  <a:srgbClr val="E1D5CB"/>
                </a:solidFill>
                <a:latin typeface="Segoe UI" panose="020B0502040204020203" charset="0"/>
                <a:cs typeface="Segoe UI" panose="020B0502040204020203" charset="0"/>
              </a:rPr>
              <a:t>TRƯỜNG ĐẠI HỌC TÀI NGUYÊN VÀ MÔI TRƯỜNG HÀ NỘI
KHOA CÔNG NGHỆ THÔNG TIN</a:t>
            </a:r>
            <a:endParaRPr lang="vi-VN" sz="1300" b="1">
              <a:solidFill>
                <a:srgbClr val="E1D5CB"/>
              </a:solidFill>
              <a:latin typeface="Segoe UI" panose="020B0502040204020203" charset="0"/>
              <a:cs typeface="Segoe UI" panose="020B0502040204020203" charset="0"/>
            </a:endParaRPr>
          </a:p>
        </p:txBody>
      </p:sp>
      <p:sp>
        <p:nvSpPr>
          <p:cNvPr id="4" name="Text Box 3"/>
          <p:cNvSpPr txBox="1"/>
          <p:nvPr/>
        </p:nvSpPr>
        <p:spPr>
          <a:xfrm>
            <a:off x="508000" y="1651000"/>
            <a:ext cx="8128000" cy="983615"/>
          </a:xfrm>
          <a:prstGeom prst="rect">
            <a:avLst/>
          </a:prstGeom>
          <a:noFill/>
        </p:spPr>
        <p:txBody>
          <a:bodyPr wrap="square" rtlCol="0" anchor="t">
            <a:spAutoFit/>
          </a:bodyPr>
          <a:p>
            <a:r>
              <a:rPr lang="vi-VN" sz="1400" b="1">
                <a:solidFill>
                  <a:srgbClr val="F8BD38"/>
                </a:solidFill>
                <a:latin typeface="Segoe UI" panose="020B0502040204020203" charset="0"/>
                <a:cs typeface="Segoe UI" panose="020B0502040204020203" charset="0"/>
              </a:rPr>
              <a:t>BÁO CÁO BÀI TẬP LỚN
</a:t>
            </a:r>
            <a:r>
              <a:rPr lang="vi-VN" sz="2200" b="1">
                <a:solidFill>
                  <a:srgbClr val="FCFAF8"/>
                </a:solidFill>
                <a:latin typeface="Segoe UI" panose="020B0502040204020203" charset="0"/>
                <a:cs typeface="Segoe UI" panose="020B0502040204020203" charset="0"/>
              </a:rPr>
              <a:t>HỆ THỐNG WEBSITE THƯƠNG MẠI ĐIỆN TỬ
BÁN VÀ CHO THUÊ Ô TÔ TRỰC TUYẾN</a:t>
            </a:r>
            <a:endParaRPr lang="vi-VN" sz="2200" b="1">
              <a:solidFill>
                <a:srgbClr val="FCFAF8"/>
              </a:solidFill>
              <a:latin typeface="Segoe UI" panose="020B0502040204020203" charset="0"/>
              <a:cs typeface="Segoe UI" panose="020B0502040204020203" charset="0"/>
            </a:endParaRPr>
          </a:p>
        </p:txBody>
      </p:sp>
      <p:sp>
        <p:nvSpPr>
          <p:cNvPr id="5" name="Text Box 4"/>
          <p:cNvSpPr txBox="1"/>
          <p:nvPr/>
        </p:nvSpPr>
        <p:spPr>
          <a:xfrm>
            <a:off x="508000" y="4318000"/>
            <a:ext cx="8128000" cy="645160"/>
          </a:xfrm>
          <a:prstGeom prst="rect">
            <a:avLst/>
          </a:prstGeom>
          <a:noFill/>
        </p:spPr>
        <p:txBody>
          <a:bodyPr wrap="square" rtlCol="0" anchor="t">
            <a:spAutoFit/>
          </a:bodyPr>
          <a:p>
            <a:r>
              <a:rPr lang="vi-VN" sz="1200">
                <a:solidFill>
                  <a:srgbClr val="B8A394"/>
                </a:solidFill>
                <a:latin typeface="Segoe UI" panose="020B0502040204020203" charset="0"/>
                <a:cs typeface="Segoe UI" panose="020B0502040204020203" charset="0"/>
              </a:rPr>
              <a:t>Giảng viên hướng dẫn: ThS. Phạm Hồng Hải
Lớp: DH13C2 | Học phần: Phát triển hệ thống TMĐT
Nhóm sinh viên thực hiện: Hoàng Ngọc Thi (NT) - Nguyễn Việt Hòa - Nguyễn Quốc Anh - Nguyễn Viết Hoàng Anh</a:t>
            </a:r>
            <a:endParaRPr lang="vi-VN" sz="1200">
              <a:solidFill>
                <a:srgbClr val="B8A394"/>
              </a:solidFill>
              <a:latin typeface="Segoe UI" panose="020B0502040204020203" charset="0"/>
              <a:cs typeface="Segoe UI" panose="020B0502040204020203"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08000" y="317500"/>
            <a:ext cx="8128000" cy="614045"/>
          </a:xfrm>
          <a:prstGeom prst="rect">
            <a:avLst/>
          </a:prstGeom>
          <a:noFill/>
        </p:spPr>
        <p:txBody>
          <a:bodyPr wrap="square" rtlCol="0" anchor="t">
            <a:spAutoFit/>
          </a:bodyPr>
          <a:p>
            <a:r>
              <a:rPr lang="vi-VN" sz="2200" b="1">
                <a:solidFill>
                  <a:srgbClr val="1E3A8A"/>
                </a:solidFill>
                <a:latin typeface="Segoe UI" panose="020B0502040204020203" charset="0"/>
                <a:cs typeface="Segoe UI" panose="020B0502040204020203" charset="0"/>
              </a:rPr>
              <a:t>NỘI DUNG BÁO CÁO ĐỒ ÁN
</a:t>
            </a:r>
            <a:r>
              <a:rPr lang="vi-VN" sz="1200">
                <a:solidFill>
                  <a:srgbClr val="8B7464"/>
                </a:solidFill>
                <a:latin typeface="Segoe UI" panose="020B0502040204020203" charset="0"/>
                <a:cs typeface="Segoe UI" panose="020B0502040204020203" charset="0"/>
              </a:rPr>
              <a:t>Cấu trúc 5 phần chính bảo vệ đề tài</a:t>
            </a:r>
            <a:endParaRPr lang="vi-VN" sz="1200">
              <a:solidFill>
                <a:srgbClr val="8B7464"/>
              </a:solidFill>
              <a:latin typeface="Segoe UI" panose="020B0502040204020203" charset="0"/>
              <a:cs typeface="Segoe UI" panose="020B0502040204020203" charset="0"/>
            </a:endParaRPr>
          </a:p>
        </p:txBody>
      </p:sp>
      <p:sp>
        <p:nvSpPr>
          <p:cNvPr id="3" name="Rectangle 2"/>
          <p:cNvSpPr/>
          <p:nvPr/>
        </p:nvSpPr>
        <p:spPr>
          <a:xfrm>
            <a:off x="635000" y="1397000"/>
            <a:ext cx="3810000" cy="1651000"/>
          </a:xfrm>
          <a:prstGeom prst="rect">
            <a:avLst/>
          </a:prstGeom>
          <a:solidFill>
            <a:srgbClr val="EFF6FF"/>
          </a:solidFill>
          <a:ln w="19050">
            <a:solidFill>
              <a:srgbClr val="3B82F6"/>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1. Tổng quan &amp; Đặt vấn đề</a:t>
            </a:r>
            <a:r>
              <a:rPr lang="vi-VN" sz="1100">
                <a:solidFill>
                  <a:srgbClr val="554133"/>
                </a:solidFill>
                <a:latin typeface="Segoe UI" panose="020B0502040204020203" charset="0"/>
                <a:cs typeface="Segoe UI" panose="020B0502040204020203" charset="0"/>
              </a:rPr>
              <a:t>
• Xu hướng chuyển đổi số ngành ô tô
• Khảo sát &amp; Phân tích thị trường
• Mô hình hoạt động và phân quyền</a:t>
            </a:r>
            <a:endParaRPr lang="vi-VN" sz="1100">
              <a:solidFill>
                <a:srgbClr val="554133"/>
              </a:solidFill>
              <a:latin typeface="Segoe UI" panose="020B0502040204020203" charset="0"/>
              <a:cs typeface="Segoe UI" panose="020B0502040204020203" charset="0"/>
            </a:endParaRPr>
          </a:p>
        </p:txBody>
      </p:sp>
      <p:sp>
        <p:nvSpPr>
          <p:cNvPr id="4" name="Rectangle 3"/>
          <p:cNvSpPr/>
          <p:nvPr/>
        </p:nvSpPr>
        <p:spPr>
          <a:xfrm>
            <a:off x="4699000" y="1397000"/>
            <a:ext cx="3810000" cy="1651000"/>
          </a:xfrm>
          <a:prstGeom prst="rect">
            <a:avLst/>
          </a:prstGeom>
          <a:solidFill>
            <a:srgbClr val="ECFDF5"/>
          </a:solidFill>
          <a:ln w="19050">
            <a:solidFill>
              <a:srgbClr val="10B981"/>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2. Công nghệ &amp; Kiến trúc</a:t>
            </a:r>
            <a:r>
              <a:rPr lang="vi-VN" sz="1100">
                <a:solidFill>
                  <a:srgbClr val="554133"/>
                </a:solidFill>
                <a:latin typeface="Segoe UI" panose="020B0502040204020203" charset="0"/>
                <a:cs typeface="Segoe UI" panose="020B0502040204020203" charset="0"/>
              </a:rPr>
              <a:t>
• Framework Laravel 11 &amp; PHP 8.2
• Cơ sở dữ liệu MySQL chuẩn 3NF
• Tích hợp API: GHN, SePay, MoMo</a:t>
            </a:r>
            <a:endParaRPr lang="vi-VN" sz="1100">
              <a:solidFill>
                <a:srgbClr val="554133"/>
              </a:solidFill>
              <a:latin typeface="Segoe UI" panose="020B0502040204020203" charset="0"/>
              <a:cs typeface="Segoe UI" panose="020B0502040204020203" charset="0"/>
            </a:endParaRPr>
          </a:p>
        </p:txBody>
      </p:sp>
      <p:sp>
        <p:nvSpPr>
          <p:cNvPr id="5" name="Rectangle 4"/>
          <p:cNvSpPr/>
          <p:nvPr/>
        </p:nvSpPr>
        <p:spPr>
          <a:xfrm>
            <a:off x="635000" y="3302000"/>
            <a:ext cx="3810000" cy="1651000"/>
          </a:xfrm>
          <a:prstGeom prst="rect">
            <a:avLst/>
          </a:prstGeom>
          <a:solidFill>
            <a:srgbClr val="F5F3FF"/>
          </a:solidFill>
          <a:ln w="19050">
            <a:solidFill>
              <a:srgbClr val="8B5CF6"/>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3. Phân tích thiết kế hệ thống</a:t>
            </a:r>
            <a:r>
              <a:rPr lang="vi-VN" sz="1100">
                <a:solidFill>
                  <a:srgbClr val="554133"/>
                </a:solidFill>
                <a:latin typeface="Segoe UI" panose="020B0502040204020203" charset="0"/>
                <a:cs typeface="Segoe UI" panose="020B0502040204020203" charset="0"/>
              </a:rPr>
              <a:t>
• Sơ đồ Use Case tổng quát &amp; phân rã
• Sơ đồ tuần tự &amp; Sơ đồ hoạt động
• Thiết kế CSDL 10 bảng quan hệ</a:t>
            </a:r>
            <a:endParaRPr lang="vi-VN" sz="1100">
              <a:solidFill>
                <a:srgbClr val="554133"/>
              </a:solidFill>
              <a:latin typeface="Segoe UI" panose="020B0502040204020203" charset="0"/>
              <a:cs typeface="Segoe UI" panose="020B0502040204020203" charset="0"/>
            </a:endParaRPr>
          </a:p>
        </p:txBody>
      </p:sp>
      <p:sp>
        <p:nvSpPr>
          <p:cNvPr id="6" name="Rectangle 5"/>
          <p:cNvSpPr/>
          <p:nvPr/>
        </p:nvSpPr>
        <p:spPr>
          <a:xfrm>
            <a:off x="4699000" y="3302000"/>
            <a:ext cx="3810000" cy="1651000"/>
          </a:xfrm>
          <a:prstGeom prst="rect">
            <a:avLst/>
          </a:prstGeom>
          <a:solidFill>
            <a:srgbClr val="FFF7ED"/>
          </a:solidFill>
          <a:ln w="19050">
            <a:solidFill>
              <a:srgbClr val="EA580C"/>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4. Demo tính năng &amp; Kiểm thử</a:t>
            </a:r>
            <a:r>
              <a:rPr lang="vi-VN" sz="1100">
                <a:solidFill>
                  <a:srgbClr val="554133"/>
                </a:solidFill>
                <a:latin typeface="Segoe UI" panose="020B0502040204020203" charset="0"/>
                <a:cs typeface="Segoe UI" panose="020B0502040204020203" charset="0"/>
              </a:rPr>
              <a:t>
• Bán xe, Lái thử, Thuê xe tự lái/tài xế
• Cổng SePay VietQR &amp; Vận đơn GHN
• 16 Test Cases - Tỷ lệ đạt 100%</a:t>
            </a:r>
            <a:endParaRPr lang="vi-VN" sz="1100">
              <a:solidFill>
                <a:srgbClr val="554133"/>
              </a:solidFill>
              <a:latin typeface="Segoe UI" panose="020B0502040204020203" charset="0"/>
              <a:cs typeface="Segoe UI" panose="020B0502040204020203" charset="0"/>
            </a:endParaRPr>
          </a:p>
        </p:txBody>
      </p:sp>
      <p:sp>
        <p:nvSpPr>
          <p:cNvPr id="7" name="Rectangle 6"/>
          <p:cNvSpPr/>
          <p:nvPr/>
        </p:nvSpPr>
        <p:spPr>
          <a:xfrm>
            <a:off x="2667000" y="5207000"/>
            <a:ext cx="3810000" cy="1143000"/>
          </a:xfrm>
          <a:prstGeom prst="rect">
            <a:avLst/>
          </a:prstGeom>
          <a:solidFill>
            <a:srgbClr val="FFFFFF"/>
          </a:solidFill>
          <a:ln w="19050">
            <a:solidFill>
              <a:srgbClr val="64748B"/>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5. Kết luận &amp; Hướng phát triển</a:t>
            </a:r>
            <a:r>
              <a:rPr lang="vi-VN" sz="1100">
                <a:solidFill>
                  <a:srgbClr val="554133"/>
                </a:solidFill>
                <a:latin typeface="Segoe UI" panose="020B0502040204020203" charset="0"/>
                <a:cs typeface="Segoe UI" panose="020B0502040204020203" charset="0"/>
              </a:rPr>
              <a:t>
• Đánh giá kết quả &amp; Ưu nhược điểm
• Kế hoạch phát triển Mobile App &amp; AI</a:t>
            </a:r>
            <a:endParaRPr lang="vi-VN" sz="1100">
              <a:solidFill>
                <a:srgbClr val="554133"/>
              </a:solidFill>
              <a:latin typeface="Segoe UI" panose="020B0502040204020203" charset="0"/>
              <a:cs typeface="Segoe UI" panose="020B0502040204020203"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08000" y="317500"/>
            <a:ext cx="8128000" cy="614045"/>
          </a:xfrm>
          <a:prstGeom prst="rect">
            <a:avLst/>
          </a:prstGeom>
          <a:noFill/>
        </p:spPr>
        <p:txBody>
          <a:bodyPr wrap="square" rtlCol="0" anchor="t">
            <a:spAutoFit/>
          </a:bodyPr>
          <a:p>
            <a:r>
              <a:rPr lang="vi-VN" sz="2200" b="1">
                <a:solidFill>
                  <a:srgbClr val="1E3A8A"/>
                </a:solidFill>
                <a:latin typeface="Segoe UI" panose="020B0502040204020203" charset="0"/>
                <a:cs typeface="Segoe UI" panose="020B0502040204020203" charset="0"/>
              </a:rPr>
              <a:t>1. ĐẶT VẤN ĐỀ VÀ BỐI CẢNH ĐỀ TÀI
</a:t>
            </a:r>
            <a:r>
              <a:rPr lang="vi-VN" sz="1200">
                <a:solidFill>
                  <a:srgbClr val="8B7464"/>
                </a:solidFill>
                <a:latin typeface="Segoe UI" panose="020B0502040204020203" charset="0"/>
                <a:cs typeface="Segoe UI" panose="020B0502040204020203" charset="0"/>
              </a:rPr>
              <a:t>Sự bùng nổ của thương mại điện tử trong ngành kinh doanh ô tô</a:t>
            </a:r>
            <a:endParaRPr lang="vi-VN" sz="1200">
              <a:solidFill>
                <a:srgbClr val="8B7464"/>
              </a:solidFill>
              <a:latin typeface="Segoe UI" panose="020B0502040204020203" charset="0"/>
              <a:cs typeface="Segoe UI" panose="020B0502040204020203" charset="0"/>
            </a:endParaRPr>
          </a:p>
        </p:txBody>
      </p:sp>
      <p:sp>
        <p:nvSpPr>
          <p:cNvPr id="3" name="Rectangle 2"/>
          <p:cNvSpPr/>
          <p:nvPr/>
        </p:nvSpPr>
        <p:spPr>
          <a:xfrm>
            <a:off x="635000" y="1397000"/>
            <a:ext cx="3810000" cy="2159000"/>
          </a:xfrm>
          <a:prstGeom prst="rect">
            <a:avLst/>
          </a:prstGeom>
          <a:solidFill>
            <a:srgbClr val="F8FAFC"/>
          </a:solidFill>
          <a:ln w="19050">
            <a:solidFill>
              <a:srgbClr val="CBD5E1"/>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Thực trạng mua bán ô tô</a:t>
            </a:r>
            <a:r>
              <a:rPr lang="vi-VN" sz="1100">
                <a:solidFill>
                  <a:srgbClr val="554133"/>
                </a:solidFill>
                <a:latin typeface="Segoe UI" panose="020B0502040204020203" charset="0"/>
                <a:cs typeface="Segoe UI" panose="020B0502040204020203" charset="0"/>
              </a:rPr>
              <a:t>
• Xe hơi là tài sản giá trị cao, trước đây phụ thuộc 100% vào showroom truyền thống.
• Khách hàng gặp khó khăn khi so sánh các phiên bản màu sắc, giá lăn bánh và cước vận chuyển giao xe tận nhà.
• Quy trình đặt lịch lái thử thủ công, dễ bị trùng lịch hoặc bỏ sót khách.</a:t>
            </a:r>
            <a:endParaRPr lang="vi-VN" sz="1100">
              <a:solidFill>
                <a:srgbClr val="554133"/>
              </a:solidFill>
              <a:latin typeface="Segoe UI" panose="020B0502040204020203" charset="0"/>
              <a:cs typeface="Segoe UI" panose="020B0502040204020203" charset="0"/>
            </a:endParaRPr>
          </a:p>
        </p:txBody>
      </p:sp>
      <p:sp>
        <p:nvSpPr>
          <p:cNvPr id="4" name="Rectangle 3"/>
          <p:cNvSpPr/>
          <p:nvPr/>
        </p:nvSpPr>
        <p:spPr>
          <a:xfrm>
            <a:off x="4699000" y="1397000"/>
            <a:ext cx="3810000" cy="2159000"/>
          </a:xfrm>
          <a:prstGeom prst="rect">
            <a:avLst/>
          </a:prstGeom>
          <a:solidFill>
            <a:srgbClr val="F8FAFC"/>
          </a:solidFill>
          <a:ln w="19050">
            <a:solidFill>
              <a:srgbClr val="CBD5E1"/>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Nhu cầu thuê xe &amp; Ký gửi</a:t>
            </a:r>
            <a:r>
              <a:rPr lang="vi-VN" sz="1100">
                <a:solidFill>
                  <a:srgbClr val="554133"/>
                </a:solidFill>
                <a:latin typeface="Segoe UI" panose="020B0502040204020203" charset="0"/>
                <a:cs typeface="Segoe UI" panose="020B0502040204020203" charset="0"/>
              </a:rPr>
              <a:t>
• Nhu cầu thuê xe du lịch, công tác có tài xế tăng trưởng &gt; 25%/năm tại các đô thị lớn.
• Nhiều cá nhân có xe nhàn rỗi muốn ký gửi kinh doanh kiếm thêm thu nhập.
• Thị trường thiếu giải pháp bảo đảm cọc và kiểm tra bàn giao xe minh bạch.</a:t>
            </a:r>
            <a:endParaRPr lang="vi-VN" sz="1100">
              <a:solidFill>
                <a:srgbClr val="554133"/>
              </a:solidFill>
              <a:latin typeface="Segoe UI" panose="020B0502040204020203" charset="0"/>
              <a:cs typeface="Segoe UI" panose="020B0502040204020203" charset="0"/>
            </a:endParaRPr>
          </a:p>
        </p:txBody>
      </p:sp>
      <p:sp>
        <p:nvSpPr>
          <p:cNvPr id="5" name="Rectangle 4"/>
          <p:cNvSpPr/>
          <p:nvPr/>
        </p:nvSpPr>
        <p:spPr>
          <a:xfrm>
            <a:off x="635000" y="3810000"/>
            <a:ext cx="7874000" cy="2286000"/>
          </a:xfrm>
          <a:prstGeom prst="rect">
            <a:avLst/>
          </a:prstGeom>
          <a:solidFill>
            <a:srgbClr val="EFF6FF"/>
          </a:solidFill>
          <a:ln w="19050">
            <a:solidFill>
              <a:srgbClr val="3B82F6"/>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MỤC TIÊU CỦA ĐỒ ÁN</a:t>
            </a:r>
            <a:r>
              <a:rPr lang="vi-VN" sz="1100">
                <a:solidFill>
                  <a:srgbClr val="554133"/>
                </a:solidFill>
                <a:latin typeface="Segoe UI" panose="020B0502040204020203" charset="0"/>
                <a:cs typeface="Segoe UI" panose="020B0502040204020203" charset="0"/>
              </a:rPr>
              <a:t>
Xây dựng hệ sinh thái thương mại điện tử ô tô toàn diện kết nối giữa Khách hàng, Đối tác ký gửi và Showroom chuyên nghiệp:
✓ Trưng bày xe đa sắc màu trực quan, cập nhật tồn kho chính xác.
✓ Đặt lịch hẹn lái thử xe tại showroom tích hợp gửi email thông báo.
✓ Thuê xe ô tô tự lái / có tài xế, quản lý tiền cọc và phiếu voucher bàn giao xe.
✓ Tích hợp cước vận chuyển Giao Hàng Nhanh (GHN) và thanh toán tự động SePay VietQR, MoMo.</a:t>
            </a:r>
            <a:endParaRPr lang="vi-VN" sz="1100">
              <a:solidFill>
                <a:srgbClr val="554133"/>
              </a:solidFill>
              <a:latin typeface="Segoe UI" panose="020B0502040204020203" charset="0"/>
              <a:cs typeface="Segoe UI" panose="020B0502040204020203"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08000" y="317500"/>
            <a:ext cx="8128000" cy="614045"/>
          </a:xfrm>
          <a:prstGeom prst="rect">
            <a:avLst/>
          </a:prstGeom>
          <a:noFill/>
        </p:spPr>
        <p:txBody>
          <a:bodyPr wrap="square" rtlCol="0" anchor="t">
            <a:spAutoFit/>
          </a:bodyPr>
          <a:p>
            <a:r>
              <a:rPr lang="vi-VN" sz="2200" b="1">
                <a:solidFill>
                  <a:srgbClr val="1E3A8A"/>
                </a:solidFill>
                <a:latin typeface="Segoe UI" panose="020B0502040204020203" charset="0"/>
                <a:cs typeface="Segoe UI" panose="020B0502040204020203" charset="0"/>
              </a:rPr>
              <a:t>SO SÁNH TÍNH NĂNG VỚI CÁC NỀN TẢNG
</a:t>
            </a:r>
            <a:r>
              <a:rPr lang="vi-VN" sz="1200">
                <a:solidFill>
                  <a:srgbClr val="8B7464"/>
                </a:solidFill>
                <a:latin typeface="Segoe UI" panose="020B0502040204020203" charset="0"/>
                <a:cs typeface="Segoe UI" panose="020B0502040204020203" charset="0"/>
              </a:rPr>
              <a:t>Khắc phục triệt để hạn chế của các website trên thị trường</a:t>
            </a:r>
            <a:endParaRPr lang="vi-VN" sz="1200">
              <a:solidFill>
                <a:srgbClr val="8B7464"/>
              </a:solidFill>
              <a:latin typeface="Segoe UI" panose="020B0502040204020203" charset="0"/>
              <a:cs typeface="Segoe UI" panose="020B0502040204020203" charset="0"/>
            </a:endParaRPr>
          </a:p>
        </p:txBody>
      </p:sp>
      <p:sp>
        <p:nvSpPr>
          <p:cNvPr id="3" name="Rectangle 2"/>
          <p:cNvSpPr/>
          <p:nvPr/>
        </p:nvSpPr>
        <p:spPr>
          <a:xfrm>
            <a:off x="635000" y="1397000"/>
            <a:ext cx="2413000" cy="4826000"/>
          </a:xfrm>
          <a:prstGeom prst="rect">
            <a:avLst/>
          </a:prstGeom>
          <a:solidFill>
            <a:srgbClr val="FFFFFF"/>
          </a:solidFill>
          <a:ln w="19050">
            <a:solidFill>
              <a:srgbClr val="CBD5E1"/>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Oto.com.vn &amp; Bonbanh</a:t>
            </a:r>
            <a:r>
              <a:rPr lang="vi-VN" sz="1100">
                <a:solidFill>
                  <a:srgbClr val="554133"/>
                </a:solidFill>
                <a:latin typeface="Segoe UI" panose="020B0502040204020203" charset="0"/>
                <a:cs typeface="Segoe UI" panose="020B0502040204020203" charset="0"/>
              </a:rPr>
              <a:t>
• Mô hình: Rao vặt tin tức.
• Bán xe: Chỉ đăng tin, không có giỏ hàng, không thanh toán online.
• Lái thử: Không hỗ trợ.
• Thuê xe: Không có.
• Vận chuyển: Tự thỏa thuận.
=&gt; Nhược điểm: Không bảo chứng giao dịch, rủi ro lừa đảo.</a:t>
            </a:r>
            <a:endParaRPr lang="vi-VN" sz="1100">
              <a:solidFill>
                <a:srgbClr val="554133"/>
              </a:solidFill>
              <a:latin typeface="Segoe UI" panose="020B0502040204020203" charset="0"/>
              <a:cs typeface="Segoe UI" panose="020B0502040204020203" charset="0"/>
            </a:endParaRPr>
          </a:p>
        </p:txBody>
      </p:sp>
      <p:sp>
        <p:nvSpPr>
          <p:cNvPr id="4" name="Rectangle 3"/>
          <p:cNvSpPr/>
          <p:nvPr/>
        </p:nvSpPr>
        <p:spPr>
          <a:xfrm>
            <a:off x="3302000" y="1397000"/>
            <a:ext cx="2413000" cy="4826000"/>
          </a:xfrm>
          <a:prstGeom prst="rect">
            <a:avLst/>
          </a:prstGeom>
          <a:solidFill>
            <a:srgbClr val="FFFFFF"/>
          </a:solidFill>
          <a:ln w="19050">
            <a:solidFill>
              <a:srgbClr val="CBD5E1"/>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Mioto.vn</a:t>
            </a:r>
            <a:r>
              <a:rPr lang="vi-VN" sz="1100">
                <a:solidFill>
                  <a:srgbClr val="554133"/>
                </a:solidFill>
                <a:latin typeface="Segoe UI" panose="020B0502040204020203" charset="0"/>
                <a:cs typeface="Segoe UI" panose="020B0502040204020203" charset="0"/>
              </a:rPr>
              <a:t>
• Mô hình: Chuyên cho thuê xe cá nhân.
• Bán xe: Hoàn toàn không có.
• Lái thử: Không có.
• Thuê xe: Tự lái &amp; có tài xế.
• Thanh toán: Thẻ / Ví điện tử.
• Vận chuyển: Nhận tại trạm.
=&gt; Nhược điểm: Chỉ thuần thuê xe, không có mảng bán xe mới.</a:t>
            </a:r>
            <a:endParaRPr lang="vi-VN" sz="1100">
              <a:solidFill>
                <a:srgbClr val="554133"/>
              </a:solidFill>
              <a:latin typeface="Segoe UI" panose="020B0502040204020203" charset="0"/>
              <a:cs typeface="Segoe UI" panose="020B0502040204020203" charset="0"/>
            </a:endParaRPr>
          </a:p>
        </p:txBody>
      </p:sp>
      <p:sp>
        <p:nvSpPr>
          <p:cNvPr id="5" name="Rectangle 4"/>
          <p:cNvSpPr/>
          <p:nvPr/>
        </p:nvSpPr>
        <p:spPr>
          <a:xfrm>
            <a:off x="5969000" y="1397000"/>
            <a:ext cx="2540000" cy="4826000"/>
          </a:xfrm>
          <a:prstGeom prst="rect">
            <a:avLst/>
          </a:prstGeom>
          <a:solidFill>
            <a:srgbClr val="ECFDF5"/>
          </a:solidFill>
          <a:ln w="19050">
            <a:solidFill>
              <a:srgbClr val="10B981"/>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HỆ THỐNG CỦA NHÓM</a:t>
            </a:r>
            <a:r>
              <a:rPr lang="vi-VN" sz="1100">
                <a:solidFill>
                  <a:srgbClr val="554133"/>
                </a:solidFill>
                <a:latin typeface="Segoe UI" panose="020B0502040204020203" charset="0"/>
                <a:cs typeface="Segoe UI" panose="020B0502040204020203" charset="0"/>
              </a:rPr>
              <a:t>
• Tích hợp '3 trong 1': Bán xe + Lái thử + Cho thuê xe.
• Đổi màu sắc xe thực tế bằng bảng mã HEX.
• Tích hợp API Giao Hàng Nhanh tính cước giao xe tận nhà.
• Tự động khớp lệnh chuyển khoản VietQR qua SePay Webhook trong 2 giây.
• Hỗ trợ mô hình đối tác ký gửi xe chia sẻ hoa hồng.</a:t>
            </a:r>
            <a:endParaRPr lang="vi-VN" sz="1100">
              <a:solidFill>
                <a:srgbClr val="554133"/>
              </a:solidFill>
              <a:latin typeface="Segoe UI" panose="020B0502040204020203" charset="0"/>
              <a:cs typeface="Segoe UI" panose="020B0502040204020203"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08000" y="317500"/>
            <a:ext cx="8128000" cy="614045"/>
          </a:xfrm>
          <a:prstGeom prst="rect">
            <a:avLst/>
          </a:prstGeom>
          <a:noFill/>
        </p:spPr>
        <p:txBody>
          <a:bodyPr wrap="square" rtlCol="0" anchor="t">
            <a:spAutoFit/>
          </a:bodyPr>
          <a:p>
            <a:r>
              <a:rPr lang="vi-VN" sz="2200" b="1">
                <a:solidFill>
                  <a:srgbClr val="1E3A8A"/>
                </a:solidFill>
                <a:latin typeface="Segoe UI" panose="020B0502040204020203" charset="0"/>
                <a:cs typeface="Segoe UI" panose="020B0502040204020203" charset="0"/>
              </a:rPr>
              <a:t>2. KIẾN TRÚC CÔNG NGHỆ VÀ LÕI HỆ THỐNG
</a:t>
            </a:r>
            <a:r>
              <a:rPr lang="vi-VN" sz="1200">
                <a:solidFill>
                  <a:srgbClr val="8B7464"/>
                </a:solidFill>
                <a:latin typeface="Segoe UI" panose="020B0502040204020203" charset="0"/>
                <a:cs typeface="Segoe UI" panose="020B0502040204020203" charset="0"/>
              </a:rPr>
              <a:t>Nền tảng công nghệ mạnh mẽ, bảo mật và chuẩn hóa</a:t>
            </a:r>
            <a:endParaRPr lang="vi-VN" sz="1200">
              <a:solidFill>
                <a:srgbClr val="8B7464"/>
              </a:solidFill>
              <a:latin typeface="Segoe UI" panose="020B0502040204020203" charset="0"/>
              <a:cs typeface="Segoe UI" panose="020B0502040204020203" charset="0"/>
            </a:endParaRPr>
          </a:p>
        </p:txBody>
      </p:sp>
      <p:sp>
        <p:nvSpPr>
          <p:cNvPr id="3" name="Rectangle 2"/>
          <p:cNvSpPr/>
          <p:nvPr/>
        </p:nvSpPr>
        <p:spPr>
          <a:xfrm>
            <a:off x="635000" y="1397000"/>
            <a:ext cx="3810000" cy="2159000"/>
          </a:xfrm>
          <a:prstGeom prst="rect">
            <a:avLst/>
          </a:prstGeom>
          <a:solidFill>
            <a:srgbClr val="EFF6FF"/>
          </a:solidFill>
          <a:ln w="19050">
            <a:solidFill>
              <a:srgbClr val="3B82F6"/>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Backend: Laravel 11 &amp; PHP 8.2</a:t>
            </a:r>
            <a:r>
              <a:rPr lang="vi-VN" sz="1100">
                <a:solidFill>
                  <a:srgbClr val="554133"/>
                </a:solidFill>
                <a:latin typeface="Segoe UI" panose="020B0502040204020203" charset="0"/>
                <a:cs typeface="Segoe UI" panose="020B0502040204020203" charset="0"/>
              </a:rPr>
              <a:t>
• Kiến trúc MVC (Model - View - Controller).
• Eloquent ORM tối ưu quan hệ 1:N, N:N.
• Middleware bảo vệ CSRF Token, Auth, Role.
• Hỗ trợ Database Transactions bảo đảm toàn vẹn giao dịch tài chính giá trị cao.</a:t>
            </a:r>
            <a:endParaRPr lang="vi-VN" sz="1100">
              <a:solidFill>
                <a:srgbClr val="554133"/>
              </a:solidFill>
              <a:latin typeface="Segoe UI" panose="020B0502040204020203" charset="0"/>
              <a:cs typeface="Segoe UI" panose="020B0502040204020203" charset="0"/>
            </a:endParaRPr>
          </a:p>
        </p:txBody>
      </p:sp>
      <p:sp>
        <p:nvSpPr>
          <p:cNvPr id="4" name="Rectangle 3"/>
          <p:cNvSpPr/>
          <p:nvPr/>
        </p:nvSpPr>
        <p:spPr>
          <a:xfrm>
            <a:off x="4699000" y="1397000"/>
            <a:ext cx="1778000" cy="2159000"/>
          </a:xfrm>
          <a:prstGeom prst="rect">
            <a:avLst/>
          </a:prstGeom>
          <a:solidFill>
            <a:srgbClr val="ECFDF5"/>
          </a:solidFill>
          <a:ln w="19050">
            <a:solidFill>
              <a:srgbClr val="10B981"/>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Database</a:t>
            </a:r>
            <a:r>
              <a:rPr lang="vi-VN" sz="1100">
                <a:solidFill>
                  <a:srgbClr val="554133"/>
                </a:solidFill>
                <a:latin typeface="Segoe UI" panose="020B0502040204020203" charset="0"/>
                <a:cs typeface="Segoe UI" panose="020B0502040204020203" charset="0"/>
              </a:rPr>
              <a:t>
• MySQL 8.0 / MariaDB.
• Charset: utf8mb4.
• 10 bảng quan hệ chuẩn 3NF.
• Khóa ngoại FK toàn vẹn.</a:t>
            </a:r>
            <a:endParaRPr lang="vi-VN" sz="1100">
              <a:solidFill>
                <a:srgbClr val="554133"/>
              </a:solidFill>
              <a:latin typeface="Segoe UI" panose="020B0502040204020203" charset="0"/>
              <a:cs typeface="Segoe UI" panose="020B0502040204020203" charset="0"/>
            </a:endParaRPr>
          </a:p>
        </p:txBody>
      </p:sp>
      <p:sp>
        <p:nvSpPr>
          <p:cNvPr id="5" name="Rectangle 4"/>
          <p:cNvSpPr/>
          <p:nvPr/>
        </p:nvSpPr>
        <p:spPr>
          <a:xfrm>
            <a:off x="6731000" y="1397000"/>
            <a:ext cx="1778000" cy="2159000"/>
          </a:xfrm>
          <a:prstGeom prst="rect">
            <a:avLst/>
          </a:prstGeom>
          <a:solidFill>
            <a:srgbClr val="F5F3FF"/>
          </a:solidFill>
          <a:ln w="19050">
            <a:solidFill>
              <a:srgbClr val="8B5CF6"/>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Frontend</a:t>
            </a:r>
            <a:r>
              <a:rPr lang="vi-VN" sz="1100">
                <a:solidFill>
                  <a:srgbClr val="554133"/>
                </a:solidFill>
                <a:latin typeface="Segoe UI" panose="020B0502040204020203" charset="0"/>
                <a:cs typeface="Segoe UI" panose="020B0502040204020203" charset="0"/>
              </a:rPr>
              <a:t>
• Blade View Engine.
• Bootstrap 5 &amp; CSS3.
• AJAX &amp; Fetch API.
• Responsive 100%.</a:t>
            </a:r>
            <a:endParaRPr lang="vi-VN" sz="1100">
              <a:solidFill>
                <a:srgbClr val="554133"/>
              </a:solidFill>
              <a:latin typeface="Segoe UI" panose="020B0502040204020203" charset="0"/>
              <a:cs typeface="Segoe UI" panose="020B0502040204020203" charset="0"/>
            </a:endParaRPr>
          </a:p>
        </p:txBody>
      </p:sp>
      <p:pic>
        <p:nvPicPr>
          <p:cNvPr id="6" name="Picture 5" descr="hinh1_10_kien_truc_api"/>
          <p:cNvPicPr>
            <a:picLocks noChangeAspect="1"/>
          </p:cNvPicPr>
          <p:nvPr/>
        </p:nvPicPr>
        <p:blipFill>
          <a:blip r:embed="rId1"/>
          <a:stretch>
            <a:fillRect/>
          </a:stretch>
        </p:blipFill>
        <p:spPr>
          <a:xfrm>
            <a:off x="635000" y="3810000"/>
            <a:ext cx="7874000" cy="2413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08000" y="317500"/>
            <a:ext cx="8128000" cy="614045"/>
          </a:xfrm>
          <a:prstGeom prst="rect">
            <a:avLst/>
          </a:prstGeom>
          <a:noFill/>
        </p:spPr>
        <p:txBody>
          <a:bodyPr wrap="square" rtlCol="0" anchor="t">
            <a:spAutoFit/>
          </a:bodyPr>
          <a:p>
            <a:r>
              <a:rPr lang="vi-VN" sz="2200" b="1">
                <a:solidFill>
                  <a:srgbClr val="1E3A8A"/>
                </a:solidFill>
                <a:latin typeface="Segoe UI" panose="020B0502040204020203" charset="0"/>
                <a:cs typeface="Segoe UI" panose="020B0502040204020203" charset="0"/>
              </a:rPr>
              <a:t>3. PHÂN TÍCH THIẾT KẾ: SƠ ĐỒ USE CASE
</a:t>
            </a:r>
            <a:r>
              <a:rPr lang="vi-VN" sz="1200">
                <a:solidFill>
                  <a:srgbClr val="8B7464"/>
                </a:solidFill>
                <a:latin typeface="Segoe UI" panose="020B0502040204020203" charset="0"/>
                <a:cs typeface="Segoe UI" panose="020B0502040204020203" charset="0"/>
              </a:rPr>
              <a:t>Bao quát toàn bộ chức năng của 3 nhóm tác nhân chính</a:t>
            </a:r>
            <a:endParaRPr lang="vi-VN" sz="1200">
              <a:solidFill>
                <a:srgbClr val="8B7464"/>
              </a:solidFill>
              <a:latin typeface="Segoe UI" panose="020B0502040204020203" charset="0"/>
              <a:cs typeface="Segoe UI" panose="020B0502040204020203" charset="0"/>
            </a:endParaRPr>
          </a:p>
        </p:txBody>
      </p:sp>
      <p:pic>
        <p:nvPicPr>
          <p:cNvPr id="3" name="Picture 2" descr="hinh2_1_usecase_tong_quat"/>
          <p:cNvPicPr>
            <a:picLocks noChangeAspect="1"/>
          </p:cNvPicPr>
          <p:nvPr/>
        </p:nvPicPr>
        <p:blipFill>
          <a:blip r:embed="rId1"/>
          <a:stretch>
            <a:fillRect/>
          </a:stretch>
        </p:blipFill>
        <p:spPr>
          <a:xfrm>
            <a:off x="635000" y="1270000"/>
            <a:ext cx="7874000" cy="3937000"/>
          </a:xfrm>
          <a:prstGeom prst="rect">
            <a:avLst/>
          </a:prstGeom>
        </p:spPr>
      </p:pic>
      <p:sp>
        <p:nvSpPr>
          <p:cNvPr id="4" name="Rectangle 3"/>
          <p:cNvSpPr/>
          <p:nvPr/>
        </p:nvSpPr>
        <p:spPr>
          <a:xfrm>
            <a:off x="635000" y="5397500"/>
            <a:ext cx="2540000" cy="889000"/>
          </a:xfrm>
          <a:prstGeom prst="rect">
            <a:avLst/>
          </a:prstGeom>
          <a:solidFill>
            <a:srgbClr val="FFFFFF"/>
          </a:solidFill>
          <a:ln w="19050">
            <a:solidFill>
              <a:srgbClr val="3B82F6"/>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Khách hàng (Customer)</a:t>
            </a:r>
            <a:r>
              <a:rPr lang="vi-VN" sz="1100">
                <a:solidFill>
                  <a:srgbClr val="554133"/>
                </a:solidFill>
                <a:latin typeface="Segoe UI" panose="020B0502040204020203" charset="0"/>
                <a:cs typeface="Segoe UI" panose="020B0502040204020203" charset="0"/>
              </a:rPr>
              <a:t>
Xem xe, đổi màu, lái thử, thuê xe, mua xe &amp; thanh toán online.</a:t>
            </a:r>
            <a:endParaRPr lang="vi-VN" sz="1100">
              <a:solidFill>
                <a:srgbClr val="554133"/>
              </a:solidFill>
              <a:latin typeface="Segoe UI" panose="020B0502040204020203" charset="0"/>
              <a:cs typeface="Segoe UI" panose="020B0502040204020203" charset="0"/>
            </a:endParaRPr>
          </a:p>
        </p:txBody>
      </p:sp>
      <p:sp>
        <p:nvSpPr>
          <p:cNvPr id="5" name="Rectangle 4"/>
          <p:cNvSpPr/>
          <p:nvPr/>
        </p:nvSpPr>
        <p:spPr>
          <a:xfrm>
            <a:off x="3302000" y="5397500"/>
            <a:ext cx="2540000" cy="889000"/>
          </a:xfrm>
          <a:prstGeom prst="rect">
            <a:avLst/>
          </a:prstGeom>
          <a:solidFill>
            <a:srgbClr val="FFFFFF"/>
          </a:solidFill>
          <a:ln w="19050">
            <a:solidFill>
              <a:srgbClr val="10B981"/>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Đối tác ký gửi (Partner)</a:t>
            </a:r>
            <a:r>
              <a:rPr lang="vi-VN" sz="1100">
                <a:solidFill>
                  <a:srgbClr val="554133"/>
                </a:solidFill>
                <a:latin typeface="Segoe UI" panose="020B0502040204020203" charset="0"/>
                <a:cs typeface="Segoe UI" panose="020B0502040204020203" charset="0"/>
              </a:rPr>
              <a:t>
Upload CCCD/GPLX, đăng xe bán/thuê, theo dõi hoa hồng.</a:t>
            </a:r>
            <a:endParaRPr lang="vi-VN" sz="1100">
              <a:solidFill>
                <a:srgbClr val="554133"/>
              </a:solidFill>
              <a:latin typeface="Segoe UI" panose="020B0502040204020203" charset="0"/>
              <a:cs typeface="Segoe UI" panose="020B0502040204020203" charset="0"/>
            </a:endParaRPr>
          </a:p>
        </p:txBody>
      </p:sp>
      <p:sp>
        <p:nvSpPr>
          <p:cNvPr id="6" name="Rectangle 5"/>
          <p:cNvSpPr/>
          <p:nvPr/>
        </p:nvSpPr>
        <p:spPr>
          <a:xfrm>
            <a:off x="5969000" y="5397500"/>
            <a:ext cx="2540000" cy="889000"/>
          </a:xfrm>
          <a:prstGeom prst="rect">
            <a:avLst/>
          </a:prstGeom>
          <a:solidFill>
            <a:srgbClr val="FFFFFF"/>
          </a:solidFill>
          <a:ln w="19050">
            <a:solidFill>
              <a:srgbClr val="8B5CF6"/>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Quản trị viên (Admin)</a:t>
            </a:r>
            <a:r>
              <a:rPr lang="vi-VN" sz="1100">
                <a:solidFill>
                  <a:srgbClr val="554133"/>
                </a:solidFill>
                <a:latin typeface="Segoe UI" panose="020B0502040204020203" charset="0"/>
                <a:cs typeface="Segoe UI" panose="020B0502040204020203" charset="0"/>
              </a:rPr>
              <a:t>
Duyệt đơn, duyệt đối tác, xuất vận đơn GHN, đối soát SePay.</a:t>
            </a:r>
            <a:endParaRPr lang="vi-VN" sz="1100">
              <a:solidFill>
                <a:srgbClr val="554133"/>
              </a:solidFill>
              <a:latin typeface="Segoe UI" panose="020B0502040204020203" charset="0"/>
              <a:cs typeface="Segoe UI" panose="020B0502040204020203"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08000" y="317500"/>
            <a:ext cx="8128000" cy="614045"/>
          </a:xfrm>
          <a:prstGeom prst="rect">
            <a:avLst/>
          </a:prstGeom>
          <a:noFill/>
        </p:spPr>
        <p:txBody>
          <a:bodyPr wrap="square" rtlCol="0" anchor="t">
            <a:spAutoFit/>
          </a:bodyPr>
          <a:p>
            <a:r>
              <a:rPr lang="vi-VN" sz="2200" b="1">
                <a:solidFill>
                  <a:srgbClr val="1E3A8A"/>
                </a:solidFill>
                <a:latin typeface="Segoe UI" panose="020B0502040204020203" charset="0"/>
                <a:cs typeface="Segoe UI" panose="020B0502040204020203" charset="0"/>
              </a:rPr>
              <a:t>THIẾT KẾ LUỒNG NGHIỆP VỤ (SEQUENCE DIAGRAM)
</a:t>
            </a:r>
            <a:r>
              <a:rPr lang="vi-VN" sz="1200">
                <a:solidFill>
                  <a:srgbClr val="8B7464"/>
                </a:solidFill>
                <a:latin typeface="Segoe UI" panose="020B0502040204020203" charset="0"/>
                <a:cs typeface="Segoe UI" panose="020B0502040204020203" charset="0"/>
              </a:rPr>
              <a:t>Đặc tả tương tác luồng dữ liệu thời gian thực</a:t>
            </a:r>
            <a:endParaRPr lang="vi-VN" sz="1200">
              <a:solidFill>
                <a:srgbClr val="8B7464"/>
              </a:solidFill>
              <a:latin typeface="Segoe UI" panose="020B0502040204020203" charset="0"/>
              <a:cs typeface="Segoe UI" panose="020B0502040204020203" charset="0"/>
            </a:endParaRPr>
          </a:p>
        </p:txBody>
      </p:sp>
      <p:pic>
        <p:nvPicPr>
          <p:cNvPr id="3" name="Picture 2" descr="hinh2_5_sequence_lai_thu"/>
          <p:cNvPicPr>
            <a:picLocks noChangeAspect="1"/>
          </p:cNvPicPr>
          <p:nvPr/>
        </p:nvPicPr>
        <p:blipFill>
          <a:blip r:embed="rId1"/>
          <a:stretch>
            <a:fillRect/>
          </a:stretch>
        </p:blipFill>
        <p:spPr>
          <a:xfrm>
            <a:off x="635000" y="1333500"/>
            <a:ext cx="3810000" cy="2222500"/>
          </a:xfrm>
          <a:prstGeom prst="rect">
            <a:avLst/>
          </a:prstGeom>
        </p:spPr>
      </p:pic>
      <p:pic>
        <p:nvPicPr>
          <p:cNvPr id="4" name="Picture 3" descr="hinh2_6_sequence_thanh_toan"/>
          <p:cNvPicPr>
            <a:picLocks noChangeAspect="1"/>
          </p:cNvPicPr>
          <p:nvPr/>
        </p:nvPicPr>
        <p:blipFill>
          <a:blip r:embed="rId2"/>
          <a:stretch>
            <a:fillRect/>
          </a:stretch>
        </p:blipFill>
        <p:spPr>
          <a:xfrm>
            <a:off x="4699000" y="1333500"/>
            <a:ext cx="3810000" cy="2222500"/>
          </a:xfrm>
          <a:prstGeom prst="rect">
            <a:avLst/>
          </a:prstGeom>
        </p:spPr>
      </p:pic>
      <p:sp>
        <p:nvSpPr>
          <p:cNvPr id="5" name="Rectangle 4"/>
          <p:cNvSpPr/>
          <p:nvPr/>
        </p:nvSpPr>
        <p:spPr>
          <a:xfrm>
            <a:off x="635000" y="3746500"/>
            <a:ext cx="3810000" cy="2540000"/>
          </a:xfrm>
          <a:prstGeom prst="rect">
            <a:avLst/>
          </a:prstGeom>
          <a:solidFill>
            <a:srgbClr val="EFF6FF"/>
          </a:solidFill>
          <a:ln w="19050">
            <a:solidFill>
              <a:srgbClr val="3B82F6"/>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Quy trình Đặt lịch lái thử</a:t>
            </a:r>
            <a:r>
              <a:rPr lang="vi-VN" sz="1100">
                <a:solidFill>
                  <a:srgbClr val="554133"/>
                </a:solidFill>
                <a:latin typeface="Segoe UI" panose="020B0502040204020203" charset="0"/>
                <a:cs typeface="Segoe UI" panose="020B0502040204020203" charset="0"/>
              </a:rPr>
              <a:t>
1. Khách chọn xe, showroom, thời gian hẹn.
2. Controller kiểm tra lịch &amp; ghi bản ghi appointments.
3. Kích hoạt Mail Service gửi thư xác nhận tự động.
4. Tư vấn viên tiếp nhận và duyệt lịch confirmed.</a:t>
            </a:r>
            <a:endParaRPr lang="vi-VN" sz="1100">
              <a:solidFill>
                <a:srgbClr val="554133"/>
              </a:solidFill>
              <a:latin typeface="Segoe UI" panose="020B0502040204020203" charset="0"/>
              <a:cs typeface="Segoe UI" panose="020B0502040204020203" charset="0"/>
            </a:endParaRPr>
          </a:p>
        </p:txBody>
      </p:sp>
      <p:sp>
        <p:nvSpPr>
          <p:cNvPr id="6" name="Rectangle 5"/>
          <p:cNvSpPr/>
          <p:nvPr/>
        </p:nvSpPr>
        <p:spPr>
          <a:xfrm>
            <a:off x="4699000" y="3746500"/>
            <a:ext cx="3810000" cy="2540000"/>
          </a:xfrm>
          <a:prstGeom prst="rect">
            <a:avLst/>
          </a:prstGeom>
          <a:solidFill>
            <a:srgbClr val="ECFDF5"/>
          </a:solidFill>
          <a:ln w="19050">
            <a:solidFill>
              <a:srgbClr val="10B981"/>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Quy trình Thanh toán SePay VietQR</a:t>
            </a:r>
            <a:r>
              <a:rPr lang="vi-VN" sz="1100">
                <a:solidFill>
                  <a:srgbClr val="554133"/>
                </a:solidFill>
                <a:latin typeface="Segoe UI" panose="020B0502040204020203" charset="0"/>
                <a:cs typeface="Segoe UI" panose="020B0502040204020203" charset="0"/>
              </a:rPr>
              <a:t>
1. Hệ thống tính cước GHN, lưu đơn status=pending.
2. Sinh mã VietQR động theo mã đơn hàng ORD-XXXX.
3. Khách quét mã chuyển khoản trên Mobile Banking.
4. SePay gửi Webhook -&gt; Tự động khớp đơn sang paid.
5. Kích hoạt tạo mã vận đơn giao xe GHN.</a:t>
            </a:r>
            <a:endParaRPr lang="vi-VN" sz="1100">
              <a:solidFill>
                <a:srgbClr val="554133"/>
              </a:solidFill>
              <a:latin typeface="Segoe UI" panose="020B0502040204020203" charset="0"/>
              <a:cs typeface="Segoe UI" panose="020B0502040204020203"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08000" y="317500"/>
            <a:ext cx="8128000" cy="614045"/>
          </a:xfrm>
          <a:prstGeom prst="rect">
            <a:avLst/>
          </a:prstGeom>
          <a:noFill/>
        </p:spPr>
        <p:txBody>
          <a:bodyPr wrap="square" rtlCol="0" anchor="t">
            <a:spAutoFit/>
          </a:bodyPr>
          <a:p>
            <a:r>
              <a:rPr lang="vi-VN" sz="2200" b="1">
                <a:solidFill>
                  <a:srgbClr val="1E3A8A"/>
                </a:solidFill>
                <a:latin typeface="Segoe UI" panose="020B0502040204020203" charset="0"/>
                <a:cs typeface="Segoe UI" panose="020B0502040204020203" charset="0"/>
              </a:rPr>
              <a:t>THIẾT KẾ CƠ SỞ DỮ LIỆU (ERD - 10 BẢNG)
</a:t>
            </a:r>
            <a:r>
              <a:rPr lang="vi-VN" sz="1200">
                <a:solidFill>
                  <a:srgbClr val="8B7464"/>
                </a:solidFill>
                <a:latin typeface="Segoe UI" panose="020B0502040204020203" charset="0"/>
                <a:cs typeface="Segoe UI" panose="020B0502040204020203" charset="0"/>
              </a:rPr>
              <a:t>Cấu trúc dữ liệu chuẩn hóa 3NF, loại bỏ dư thừa</a:t>
            </a:r>
            <a:endParaRPr lang="vi-VN" sz="1200">
              <a:solidFill>
                <a:srgbClr val="8B7464"/>
              </a:solidFill>
              <a:latin typeface="Segoe UI" panose="020B0502040204020203" charset="0"/>
              <a:cs typeface="Segoe UI" panose="020B0502040204020203" charset="0"/>
            </a:endParaRPr>
          </a:p>
        </p:txBody>
      </p:sp>
      <p:pic>
        <p:nvPicPr>
          <p:cNvPr id="3" name="Picture 2" descr="hinh2_13_erd_database"/>
          <p:cNvPicPr>
            <a:picLocks noChangeAspect="1"/>
          </p:cNvPicPr>
          <p:nvPr/>
        </p:nvPicPr>
        <p:blipFill>
          <a:blip r:embed="rId1"/>
          <a:stretch>
            <a:fillRect/>
          </a:stretch>
        </p:blipFill>
        <p:spPr>
          <a:xfrm>
            <a:off x="635000" y="1270000"/>
            <a:ext cx="7874000" cy="3429000"/>
          </a:xfrm>
          <a:prstGeom prst="rect">
            <a:avLst/>
          </a:prstGeom>
        </p:spPr>
      </p:pic>
      <p:sp>
        <p:nvSpPr>
          <p:cNvPr id="4" name="Rectangle 3"/>
          <p:cNvSpPr/>
          <p:nvPr/>
        </p:nvSpPr>
        <p:spPr>
          <a:xfrm>
            <a:off x="635000" y="4889500"/>
            <a:ext cx="7874000" cy="1397000"/>
          </a:xfrm>
          <a:prstGeom prst="rect">
            <a:avLst/>
          </a:prstGeom>
          <a:solidFill>
            <a:srgbClr val="FFFFFF"/>
          </a:solidFill>
          <a:ln w="19050">
            <a:solidFill>
              <a:srgbClr val="CBD5E1"/>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10 BẢNG DỮ LIỆU TRỌNG TÂM</a:t>
            </a:r>
            <a:r>
              <a:rPr lang="vi-VN" sz="1100">
                <a:solidFill>
                  <a:srgbClr val="554133"/>
                </a:solidFill>
                <a:latin typeface="Segoe UI" panose="020B0502040204020203" charset="0"/>
                <a:cs typeface="Segoe UI" panose="020B0502040204020203" charset="0"/>
              </a:rPr>
              <a:t>
• users: Quản lý người dùng, phân quyền admin/partner/user, mã OTP và trạng thái đối tác.
• categories &amp; products: Danh mục và kho xe bán/thuê, giá niêm yết, tồn kho, tùy chọn tài xế.
• product_colors: Quản lý các tùy chọn phiên bản màu sắc xe và mã màu HEX.
• orders &amp; order_items: Đơn đặt mua ô tô, cước phí GHN, hình thức giao hàng, trạng thái thanh toán.
• appointments &amp; rentals: Lịch lái thử showroom và hợp đồng thuê xe, kiểm tra bàn giao và tiền cọc.
• payment_transactions &amp; messages: Nhật ký Webhook đối soát và hộp thư chat trực tuyến.</a:t>
            </a:r>
            <a:endParaRPr lang="vi-VN" sz="1100">
              <a:solidFill>
                <a:srgbClr val="554133"/>
              </a:solidFill>
              <a:latin typeface="Segoe UI" panose="020B0502040204020203" charset="0"/>
              <a:cs typeface="Segoe UI" panose="020B0502040204020203"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08000" y="317500"/>
            <a:ext cx="8128000" cy="614045"/>
          </a:xfrm>
          <a:prstGeom prst="rect">
            <a:avLst/>
          </a:prstGeom>
          <a:noFill/>
        </p:spPr>
        <p:txBody>
          <a:bodyPr wrap="square" rtlCol="0" anchor="t">
            <a:spAutoFit/>
          </a:bodyPr>
          <a:p>
            <a:r>
              <a:rPr lang="vi-VN" sz="2200" b="1">
                <a:solidFill>
                  <a:srgbClr val="1E3A8A"/>
                </a:solidFill>
                <a:latin typeface="Segoe UI" panose="020B0502040204020203" charset="0"/>
                <a:cs typeface="Segoe UI" panose="020B0502040204020203" charset="0"/>
              </a:rPr>
              <a:t>4. DEMO GIAO DIỆN: SHOWROOM TRỰC TUYẾN
</a:t>
            </a:r>
            <a:r>
              <a:rPr lang="vi-VN" sz="1200">
                <a:solidFill>
                  <a:srgbClr val="8B7464"/>
                </a:solidFill>
                <a:latin typeface="Segoe UI" panose="020B0502040204020203" charset="0"/>
                <a:cs typeface="Segoe UI" panose="020B0502040204020203" charset="0"/>
              </a:rPr>
              <a:t>Trải nghiệm duyệt xe hiện đại và tìm kiếm thông minh</a:t>
            </a:r>
            <a:endParaRPr lang="vi-VN" sz="1200">
              <a:solidFill>
                <a:srgbClr val="8B7464"/>
              </a:solidFill>
              <a:latin typeface="Segoe UI" panose="020B0502040204020203" charset="0"/>
              <a:cs typeface="Segoe UI" panose="020B0502040204020203" charset="0"/>
            </a:endParaRPr>
          </a:p>
        </p:txBody>
      </p:sp>
      <p:pic>
        <p:nvPicPr>
          <p:cNvPr id="3" name="Picture 2" descr="hinh3_3_giao_dien_trang_chu"/>
          <p:cNvPicPr>
            <a:picLocks noChangeAspect="1"/>
          </p:cNvPicPr>
          <p:nvPr/>
        </p:nvPicPr>
        <p:blipFill>
          <a:blip r:embed="rId1"/>
          <a:stretch>
            <a:fillRect/>
          </a:stretch>
        </p:blipFill>
        <p:spPr>
          <a:xfrm>
            <a:off x="635000" y="1270000"/>
            <a:ext cx="7874000" cy="3937000"/>
          </a:xfrm>
          <a:prstGeom prst="rect">
            <a:avLst/>
          </a:prstGeom>
        </p:spPr>
      </p:pic>
      <p:sp>
        <p:nvSpPr>
          <p:cNvPr id="4" name="Rectangle 3"/>
          <p:cNvSpPr/>
          <p:nvPr/>
        </p:nvSpPr>
        <p:spPr>
          <a:xfrm>
            <a:off x="635000" y="5397500"/>
            <a:ext cx="7874000" cy="889000"/>
          </a:xfrm>
          <a:prstGeom prst="rect">
            <a:avLst/>
          </a:prstGeom>
          <a:solidFill>
            <a:srgbClr val="EFF6FF"/>
          </a:solidFill>
          <a:ln w="19050">
            <a:solidFill>
              <a:srgbClr val="3B82F6"/>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ĐIỂM NỔI BẬT GIAO DIỆN KHÁCH HÀNG</a:t>
            </a:r>
            <a:r>
              <a:rPr lang="vi-VN" sz="1100">
                <a:solidFill>
                  <a:srgbClr val="554133"/>
                </a:solidFill>
                <a:latin typeface="Segoe UI" panose="020B0502040204020203" charset="0"/>
                <a:cs typeface="Segoe UI" panose="020B0502040204020203" charset="0"/>
              </a:rPr>
              <a:t>
Trang chủ mang phong cách showroom cao cấp, hiển thị đồng thời giá mua đứt và giá thuê theo ngày, hỗ trợ tìm kiếm nhanh theo dòng xe và thương hiệu yêu thích.</a:t>
            </a:r>
            <a:endParaRPr lang="vi-VN" sz="1100">
              <a:solidFill>
                <a:srgbClr val="554133"/>
              </a:solidFill>
              <a:latin typeface="Segoe UI" panose="020B0502040204020203" charset="0"/>
              <a:cs typeface="Segoe UI" panose="020B0502040204020203"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08000" y="317500"/>
            <a:ext cx="8128000" cy="614045"/>
          </a:xfrm>
          <a:prstGeom prst="rect">
            <a:avLst/>
          </a:prstGeom>
          <a:noFill/>
        </p:spPr>
        <p:txBody>
          <a:bodyPr wrap="square" rtlCol="0" anchor="t">
            <a:spAutoFit/>
          </a:bodyPr>
          <a:p>
            <a:r>
              <a:rPr lang="vi-VN" sz="2200" b="1">
                <a:solidFill>
                  <a:srgbClr val="1E3A8A"/>
                </a:solidFill>
                <a:latin typeface="Segoe UI" panose="020B0502040204020203" charset="0"/>
                <a:cs typeface="Segoe UI" panose="020B0502040204020203" charset="0"/>
              </a:rPr>
              <a:t>CHI TIẾT XE &amp; CHỌN MÀU NGOẠI THẤT
</a:t>
            </a:r>
            <a:r>
              <a:rPr lang="vi-VN" sz="1200">
                <a:solidFill>
                  <a:srgbClr val="8B7464"/>
                </a:solidFill>
                <a:latin typeface="Segoe UI" panose="020B0502040204020203" charset="0"/>
                <a:cs typeface="Segoe UI" panose="020B0502040204020203" charset="0"/>
              </a:rPr>
              <a:t>Thông số động cơ chính xác &amp; Đổi màu xe trực quan qua AJAX</a:t>
            </a:r>
            <a:endParaRPr lang="vi-VN" sz="1200">
              <a:solidFill>
                <a:srgbClr val="8B7464"/>
              </a:solidFill>
              <a:latin typeface="Segoe UI" panose="020B0502040204020203" charset="0"/>
              <a:cs typeface="Segoe UI" panose="020B0502040204020203" charset="0"/>
            </a:endParaRPr>
          </a:p>
        </p:txBody>
      </p:sp>
      <p:pic>
        <p:nvPicPr>
          <p:cNvPr id="3" name="Picture 2" descr="hinh3_5_chi_tiet_xe_lai_thu"/>
          <p:cNvPicPr>
            <a:picLocks noChangeAspect="1"/>
          </p:cNvPicPr>
          <p:nvPr/>
        </p:nvPicPr>
        <p:blipFill>
          <a:blip r:embed="rId1"/>
          <a:stretch>
            <a:fillRect/>
          </a:stretch>
        </p:blipFill>
        <p:spPr>
          <a:xfrm>
            <a:off x="635000" y="1270000"/>
            <a:ext cx="7874000" cy="3937000"/>
          </a:xfrm>
          <a:prstGeom prst="rect">
            <a:avLst/>
          </a:prstGeom>
        </p:spPr>
      </p:pic>
      <p:sp>
        <p:nvSpPr>
          <p:cNvPr id="4" name="Rectangle 3"/>
          <p:cNvSpPr/>
          <p:nvPr/>
        </p:nvSpPr>
        <p:spPr>
          <a:xfrm>
            <a:off x="635000" y="5397500"/>
            <a:ext cx="7874000" cy="889000"/>
          </a:xfrm>
          <a:prstGeom prst="rect">
            <a:avLst/>
          </a:prstGeom>
          <a:solidFill>
            <a:srgbClr val="ECFDF5"/>
          </a:solidFill>
          <a:ln w="19050">
            <a:solidFill>
              <a:srgbClr val="10B981"/>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ĐẶC TẢ TÍNH NĂNG CHỌN MÀU XE</a:t>
            </a:r>
            <a:r>
              <a:rPr lang="vi-VN" sz="1100">
                <a:solidFill>
                  <a:srgbClr val="554133"/>
                </a:solidFill>
                <a:latin typeface="Segoe UI" panose="020B0502040204020203" charset="0"/>
                <a:cs typeface="Segoe UI" panose="020B0502040204020203" charset="0"/>
              </a:rPr>
              <a:t>
Khách hàng nhấp vào từng màu (Trắng Ngọc Trai, Đen Ánh Kim, Đỏ Ruby...), hình ảnh xe cập nhật tức thì. Hỗ trợ 3 nút hành động: Đặt mua ngay, Thuê xe tự lái và Đặt lịch lái thử.</a:t>
            </a:r>
            <a:endParaRPr lang="vi-VN" sz="1100">
              <a:solidFill>
                <a:srgbClr val="554133"/>
              </a:solidFill>
              <a:latin typeface="Segoe UI" panose="020B0502040204020203" charset="0"/>
              <a:cs typeface="Segoe UI" panose="020B0502040204020203"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08000" y="317500"/>
            <a:ext cx="8128000" cy="614045"/>
          </a:xfrm>
          <a:prstGeom prst="rect">
            <a:avLst/>
          </a:prstGeom>
          <a:noFill/>
        </p:spPr>
        <p:txBody>
          <a:bodyPr wrap="square" rtlCol="0" anchor="t">
            <a:spAutoFit/>
          </a:bodyPr>
          <a:p>
            <a:r>
              <a:rPr lang="vi-VN" sz="2200" b="1">
                <a:solidFill>
                  <a:srgbClr val="1E3A8A"/>
                </a:solidFill>
                <a:latin typeface="Segoe UI" panose="020B0502040204020203" charset="0"/>
                <a:cs typeface="Segoe UI" panose="020B0502040204020203" charset="0"/>
              </a:rPr>
              <a:t>CHECKOUT TỰ ĐỘNG: GHN &amp; SEPAY VIETQR
</a:t>
            </a:r>
            <a:r>
              <a:rPr lang="vi-VN" sz="1200">
                <a:solidFill>
                  <a:srgbClr val="8B7464"/>
                </a:solidFill>
                <a:latin typeface="Segoe UI" panose="020B0502040204020203" charset="0"/>
                <a:cs typeface="Segoe UI" panose="020B0502040204020203" charset="0"/>
              </a:rPr>
              <a:t>Tính cước vận chuyển theo khoảng cách &amp; Thanh toán quét mã QR</a:t>
            </a:r>
            <a:endParaRPr lang="vi-VN" sz="1200">
              <a:solidFill>
                <a:srgbClr val="8B7464"/>
              </a:solidFill>
              <a:latin typeface="Segoe UI" panose="020B0502040204020203" charset="0"/>
              <a:cs typeface="Segoe UI" panose="020B0502040204020203" charset="0"/>
            </a:endParaRPr>
          </a:p>
        </p:txBody>
      </p:sp>
      <p:pic>
        <p:nvPicPr>
          <p:cNvPr id="3" name="Picture 2" descr="hinh3_9_checkout_ghn_sepay"/>
          <p:cNvPicPr>
            <a:picLocks noChangeAspect="1"/>
          </p:cNvPicPr>
          <p:nvPr/>
        </p:nvPicPr>
        <p:blipFill>
          <a:blip r:embed="rId1"/>
          <a:stretch>
            <a:fillRect/>
          </a:stretch>
        </p:blipFill>
        <p:spPr>
          <a:xfrm>
            <a:off x="635000" y="1270000"/>
            <a:ext cx="7874000" cy="3937000"/>
          </a:xfrm>
          <a:prstGeom prst="rect">
            <a:avLst/>
          </a:prstGeom>
        </p:spPr>
      </p:pic>
      <p:sp>
        <p:nvSpPr>
          <p:cNvPr id="4" name="Rectangle 3"/>
          <p:cNvSpPr/>
          <p:nvPr/>
        </p:nvSpPr>
        <p:spPr>
          <a:xfrm>
            <a:off x="635000" y="5397500"/>
            <a:ext cx="7874000" cy="889000"/>
          </a:xfrm>
          <a:prstGeom prst="rect">
            <a:avLst/>
          </a:prstGeom>
          <a:solidFill>
            <a:srgbClr val="FFF7ED"/>
          </a:solidFill>
          <a:ln w="19050">
            <a:solidFill>
              <a:srgbClr val="EA580C"/>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QUY TRÌNH THANH TOÁN KHÉP KÍN</a:t>
            </a:r>
            <a:r>
              <a:rPr lang="vi-VN" sz="1100">
                <a:solidFill>
                  <a:srgbClr val="554133"/>
                </a:solidFill>
                <a:latin typeface="Segoe UI" panose="020B0502040204020203" charset="0"/>
                <a:cs typeface="Segoe UI" panose="020B0502040204020203" charset="0"/>
              </a:rPr>
              <a:t>
Chọn Tỉnh/Huyện/Xã tự động gọi API GHN tính cước xe chuyên dụng (3.500.000 đ). Sinh mã VietQR kèm cú pháp riêng; khi quét mã xong, SePay Webhook kích hoạt đơn trong 2s.</a:t>
            </a:r>
            <a:endParaRPr lang="vi-VN" sz="1100">
              <a:solidFill>
                <a:srgbClr val="554133"/>
              </a:solidFill>
              <a:latin typeface="Segoe UI" panose="020B0502040204020203" charset="0"/>
              <a:cs typeface="Segoe UI" panose="020B0502040204020203"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08000" y="317500"/>
            <a:ext cx="8128000" cy="614045"/>
          </a:xfrm>
          <a:prstGeom prst="rect">
            <a:avLst/>
          </a:prstGeom>
          <a:noFill/>
        </p:spPr>
        <p:txBody>
          <a:bodyPr wrap="square" rtlCol="0" anchor="t">
            <a:spAutoFit/>
          </a:bodyPr>
          <a:p>
            <a:r>
              <a:rPr lang="vi-VN" sz="2200" b="1">
                <a:solidFill>
                  <a:srgbClr val="1E3A8A"/>
                </a:solidFill>
                <a:latin typeface="Segoe UI" panose="020B0502040204020203" charset="0"/>
                <a:cs typeface="Segoe UI" panose="020B0502040204020203" charset="0"/>
              </a:rPr>
              <a:t>BẢNG ĐIỀU KHIỂN QUẢN TRỊ VIÊN (ADMIN DASHBOARD)
</a:t>
            </a:r>
            <a:r>
              <a:rPr lang="vi-VN" sz="1200">
                <a:solidFill>
                  <a:srgbClr val="8B7464"/>
                </a:solidFill>
                <a:latin typeface="Segoe UI" panose="020B0502040204020203" charset="0"/>
                <a:cs typeface="Segoe UI" panose="020B0502040204020203" charset="0"/>
              </a:rPr>
              <a:t>Giám sát doanh thu, đơn hàng và logistics tập trung</a:t>
            </a:r>
            <a:endParaRPr lang="vi-VN" sz="1200">
              <a:solidFill>
                <a:srgbClr val="8B7464"/>
              </a:solidFill>
              <a:latin typeface="Segoe UI" panose="020B0502040204020203" charset="0"/>
              <a:cs typeface="Segoe UI" panose="020B0502040204020203" charset="0"/>
            </a:endParaRPr>
          </a:p>
        </p:txBody>
      </p:sp>
      <p:pic>
        <p:nvPicPr>
          <p:cNvPr id="3" name="Picture 2" descr="hinh3_18_admin_dashboard"/>
          <p:cNvPicPr>
            <a:picLocks noChangeAspect="1"/>
          </p:cNvPicPr>
          <p:nvPr/>
        </p:nvPicPr>
        <p:blipFill>
          <a:blip r:embed="rId1"/>
          <a:stretch>
            <a:fillRect/>
          </a:stretch>
        </p:blipFill>
        <p:spPr>
          <a:xfrm>
            <a:off x="635000" y="1270000"/>
            <a:ext cx="7874000" cy="3937000"/>
          </a:xfrm>
          <a:prstGeom prst="rect">
            <a:avLst/>
          </a:prstGeom>
        </p:spPr>
      </p:pic>
      <p:sp>
        <p:nvSpPr>
          <p:cNvPr id="4" name="Rectangle 3"/>
          <p:cNvSpPr/>
          <p:nvPr/>
        </p:nvSpPr>
        <p:spPr>
          <a:xfrm>
            <a:off x="635000" y="5397500"/>
            <a:ext cx="7874000" cy="889000"/>
          </a:xfrm>
          <a:prstGeom prst="rect">
            <a:avLst/>
          </a:prstGeom>
          <a:solidFill>
            <a:srgbClr val="F5F3FF"/>
          </a:solidFill>
          <a:ln w="19050">
            <a:solidFill>
              <a:srgbClr val="8B5CF6"/>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QUẢN TRỊ TỔNG THỂ SHOWROOM</a:t>
            </a:r>
            <a:r>
              <a:rPr lang="vi-VN" sz="1100">
                <a:solidFill>
                  <a:srgbClr val="554133"/>
                </a:solidFill>
                <a:latin typeface="Segoe UI" panose="020B0502040204020203" charset="0"/>
                <a:cs typeface="Segoe UI" panose="020B0502040204020203" charset="0"/>
              </a:rPr>
              <a:t>
Cập nhật thời gian thực: Doanh số bán xe (8.45 tỷ), Doanh thu thuê (342 triệu), Hợp đồng thuê xe, Phê duyệt đối tác ký gửi và Theo dõi biến động doanh thu theo quý.</a:t>
            </a:r>
            <a:endParaRPr lang="vi-VN" sz="1100">
              <a:solidFill>
                <a:srgbClr val="554133"/>
              </a:solidFill>
              <a:latin typeface="Segoe UI" panose="020B0502040204020203" charset="0"/>
              <a:cs typeface="Segoe UI" panose="020B0502040204020203"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08000" y="317500"/>
            <a:ext cx="8128000" cy="614045"/>
          </a:xfrm>
          <a:prstGeom prst="rect">
            <a:avLst/>
          </a:prstGeom>
          <a:noFill/>
        </p:spPr>
        <p:txBody>
          <a:bodyPr wrap="square" rtlCol="0" anchor="t">
            <a:spAutoFit/>
          </a:bodyPr>
          <a:p>
            <a:r>
              <a:rPr lang="vi-VN" sz="2200" b="1">
                <a:solidFill>
                  <a:srgbClr val="1E3A8A"/>
                </a:solidFill>
                <a:latin typeface="Segoe UI" panose="020B0502040204020203" charset="0"/>
                <a:cs typeface="Segoe UI" panose="020B0502040204020203" charset="0"/>
              </a:rPr>
              <a:t>5. KẾT QUẢ KIỂM THỬ HỆ THỐNG (TESTING)
</a:t>
            </a:r>
            <a:r>
              <a:rPr lang="vi-VN" sz="1200">
                <a:solidFill>
                  <a:srgbClr val="8B7464"/>
                </a:solidFill>
                <a:latin typeface="Segoe UI" panose="020B0502040204020203" charset="0"/>
                <a:cs typeface="Segoe UI" panose="020B0502040204020203" charset="0"/>
              </a:rPr>
              <a:t>16 Test Cases chức năng &amp; bảo mật - Tỷ lệ ĐẠT 100%</a:t>
            </a:r>
            <a:endParaRPr lang="vi-VN" sz="1200">
              <a:solidFill>
                <a:srgbClr val="8B7464"/>
              </a:solidFill>
              <a:latin typeface="Segoe UI" panose="020B0502040204020203" charset="0"/>
              <a:cs typeface="Segoe UI" panose="020B0502040204020203" charset="0"/>
            </a:endParaRPr>
          </a:p>
        </p:txBody>
      </p:sp>
      <p:sp>
        <p:nvSpPr>
          <p:cNvPr id="3" name="Rectangle 2"/>
          <p:cNvSpPr/>
          <p:nvPr/>
        </p:nvSpPr>
        <p:spPr>
          <a:xfrm>
            <a:off x="635000" y="1397000"/>
            <a:ext cx="3810000" cy="2159000"/>
          </a:xfrm>
          <a:prstGeom prst="rect">
            <a:avLst/>
          </a:prstGeom>
          <a:solidFill>
            <a:srgbClr val="ECFDF5"/>
          </a:solidFill>
          <a:ln w="19050">
            <a:solidFill>
              <a:srgbClr val="10B981"/>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Xác thực &amp; Bảo mật (3 TC)</a:t>
            </a:r>
            <a:r>
              <a:rPr lang="vi-VN" sz="1100">
                <a:solidFill>
                  <a:srgbClr val="554133"/>
                </a:solidFill>
                <a:latin typeface="Segoe UI" panose="020B0502040204020203" charset="0"/>
                <a:cs typeface="Segoe UI" panose="020B0502040204020203" charset="0"/>
              </a:rPr>
              <a:t>
• TC01: Đăng ký email hợp lệ (ĐẠT).
• TC02: Nhập OTP email kích hoạt (ĐẠT).
• TC03: Chống OTP giả / hết hạn 5 phút (ĐẠT).
=&gt; Bảo vệ tài khoản và loại bỏ user ảo.</a:t>
            </a:r>
            <a:endParaRPr lang="vi-VN" sz="1100">
              <a:solidFill>
                <a:srgbClr val="554133"/>
              </a:solidFill>
              <a:latin typeface="Segoe UI" panose="020B0502040204020203" charset="0"/>
              <a:cs typeface="Segoe UI" panose="020B0502040204020203" charset="0"/>
            </a:endParaRPr>
          </a:p>
        </p:txBody>
      </p:sp>
      <p:sp>
        <p:nvSpPr>
          <p:cNvPr id="4" name="Rectangle 3"/>
          <p:cNvSpPr/>
          <p:nvPr/>
        </p:nvSpPr>
        <p:spPr>
          <a:xfrm>
            <a:off x="4699000" y="1397000"/>
            <a:ext cx="3810000" cy="2159000"/>
          </a:xfrm>
          <a:prstGeom prst="rect">
            <a:avLst/>
          </a:prstGeom>
          <a:solidFill>
            <a:srgbClr val="EFF6FF"/>
          </a:solidFill>
          <a:ln w="19050">
            <a:solidFill>
              <a:srgbClr val="3B82F6"/>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Tìm kiếm, Màu xe &amp; Lái thử (3 TC)</a:t>
            </a:r>
            <a:r>
              <a:rPr lang="vi-VN" sz="1100">
                <a:solidFill>
                  <a:srgbClr val="554133"/>
                </a:solidFill>
                <a:latin typeface="Segoe UI" panose="020B0502040204020203" charset="0"/>
                <a:cs typeface="Segoe UI" panose="020B0502040204020203" charset="0"/>
              </a:rPr>
              <a:t>
• TC04: Tìm kiếm theo hãng &amp; tầm giá (ĐẠT).
• TC05: Đổi màu ngoại thất trực quan (ĐẠT).
• TC06: Đặt lịch lái thử gửi email (ĐẠT).
=&gt; Trải nghiệm mượt mà, phản hồi tức thì.</a:t>
            </a:r>
            <a:endParaRPr lang="vi-VN" sz="1100">
              <a:solidFill>
                <a:srgbClr val="554133"/>
              </a:solidFill>
              <a:latin typeface="Segoe UI" panose="020B0502040204020203" charset="0"/>
              <a:cs typeface="Segoe UI" panose="020B0502040204020203" charset="0"/>
            </a:endParaRPr>
          </a:p>
        </p:txBody>
      </p:sp>
      <p:sp>
        <p:nvSpPr>
          <p:cNvPr id="5" name="Rectangle 4"/>
          <p:cNvSpPr/>
          <p:nvPr/>
        </p:nvSpPr>
        <p:spPr>
          <a:xfrm>
            <a:off x="635000" y="3746500"/>
            <a:ext cx="3810000" cy="2540000"/>
          </a:xfrm>
          <a:prstGeom prst="rect">
            <a:avLst/>
          </a:prstGeom>
          <a:solidFill>
            <a:srgbClr val="FFF7ED"/>
          </a:solidFill>
          <a:ln w="19050">
            <a:solidFill>
              <a:srgbClr val="EA580C"/>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Thanh toán &amp; GHN (4 TC)</a:t>
            </a:r>
            <a:r>
              <a:rPr lang="vi-VN" sz="1100">
                <a:solidFill>
                  <a:srgbClr val="554133"/>
                </a:solidFill>
                <a:latin typeface="Segoe UI" panose="020B0502040204020203" charset="0"/>
                <a:cs typeface="Segoe UI" panose="020B0502040204020203" charset="0"/>
              </a:rPr>
              <a:t>
• TC07: Giỏ hàng đa phiên bản xe (ĐẠT).
• TC08: Tính cước vận chuyển GHN (ĐẠT).
• TC09: Sinh mã VietQR SePay động (ĐẠT).
• TC10: Nhận Webhook khớp tiền 2s (ĐẠT).</a:t>
            </a:r>
            <a:endParaRPr lang="vi-VN" sz="1100">
              <a:solidFill>
                <a:srgbClr val="554133"/>
              </a:solidFill>
              <a:latin typeface="Segoe UI" panose="020B0502040204020203" charset="0"/>
              <a:cs typeface="Segoe UI" panose="020B0502040204020203" charset="0"/>
            </a:endParaRPr>
          </a:p>
        </p:txBody>
      </p:sp>
      <p:sp>
        <p:nvSpPr>
          <p:cNvPr id="6" name="Rectangle 5"/>
          <p:cNvSpPr/>
          <p:nvPr/>
        </p:nvSpPr>
        <p:spPr>
          <a:xfrm>
            <a:off x="4699000" y="3746500"/>
            <a:ext cx="3810000" cy="2540000"/>
          </a:xfrm>
          <a:prstGeom prst="rect">
            <a:avLst/>
          </a:prstGeom>
          <a:solidFill>
            <a:srgbClr val="F5F3FF"/>
          </a:solidFill>
          <a:ln w="19050">
            <a:solidFill>
              <a:srgbClr val="8B5CF6"/>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Thuê xe &amp; Đối tác ký gửi (6 TC)</a:t>
            </a:r>
            <a:r>
              <a:rPr lang="vi-VN" sz="1100">
                <a:solidFill>
                  <a:srgbClr val="554133"/>
                </a:solidFill>
                <a:latin typeface="Segoe UI" panose="020B0502040204020203" charset="0"/>
                <a:cs typeface="Segoe UI" panose="020B0502040204020203" charset="0"/>
              </a:rPr>
              <a:t>
• TC11: Thuê xe có tài xế riêng (ĐẠT).
• TC12: Bàn giao xe &amp; Hoàn trả cọc (ĐẠT).
• TC13: Upload CCCD/GPLX đối tác (ĐẠT).
• TC14: Admin duyệt đối tác &amp; xe (ĐẠT).</a:t>
            </a:r>
            <a:endParaRPr lang="vi-VN" sz="1100">
              <a:solidFill>
                <a:srgbClr val="554133"/>
              </a:solidFill>
              <a:latin typeface="Segoe UI" panose="020B0502040204020203" charset="0"/>
              <a:cs typeface="Segoe UI" panose="020B0502040204020203"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08000" y="317500"/>
            <a:ext cx="8128000" cy="614045"/>
          </a:xfrm>
          <a:prstGeom prst="rect">
            <a:avLst/>
          </a:prstGeom>
          <a:noFill/>
        </p:spPr>
        <p:txBody>
          <a:bodyPr wrap="square" rtlCol="0" anchor="t">
            <a:spAutoFit/>
          </a:bodyPr>
          <a:p>
            <a:r>
              <a:rPr lang="vi-VN" sz="2200" b="1">
                <a:solidFill>
                  <a:srgbClr val="1E3A8A"/>
                </a:solidFill>
                <a:latin typeface="Segoe UI" panose="020B0502040204020203" charset="0"/>
                <a:cs typeface="Segoe UI" panose="020B0502040204020203" charset="0"/>
              </a:rPr>
              <a:t>KẾT LUẬN VÀ KẾT QUẢ ĐẠT ĐƯỢC
</a:t>
            </a:r>
            <a:r>
              <a:rPr lang="vi-VN" sz="1200">
                <a:solidFill>
                  <a:srgbClr val="8B7464"/>
                </a:solidFill>
                <a:latin typeface="Segoe UI" panose="020B0502040204020203" charset="0"/>
                <a:cs typeface="Segoe UI" panose="020B0502040204020203" charset="0"/>
              </a:rPr>
              <a:t>Hoàn thành xuất sắc 100% mục tiêu đề ra</a:t>
            </a:r>
            <a:endParaRPr lang="vi-VN" sz="1200">
              <a:solidFill>
                <a:srgbClr val="8B7464"/>
              </a:solidFill>
              <a:latin typeface="Segoe UI" panose="020B0502040204020203" charset="0"/>
              <a:cs typeface="Segoe UI" panose="020B0502040204020203" charset="0"/>
            </a:endParaRPr>
          </a:p>
        </p:txBody>
      </p:sp>
      <p:sp>
        <p:nvSpPr>
          <p:cNvPr id="3" name="Rectangle 2"/>
          <p:cNvSpPr/>
          <p:nvPr/>
        </p:nvSpPr>
        <p:spPr>
          <a:xfrm>
            <a:off x="635000" y="1397000"/>
            <a:ext cx="3810000" cy="4826000"/>
          </a:xfrm>
          <a:prstGeom prst="rect">
            <a:avLst/>
          </a:prstGeom>
          <a:solidFill>
            <a:srgbClr val="ECFDF5"/>
          </a:solidFill>
          <a:ln w="19050">
            <a:solidFill>
              <a:srgbClr val="10B981"/>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KẾT QUẢ ĐẠT ĐƯỢC</a:t>
            </a:r>
            <a:r>
              <a:rPr lang="vi-VN" sz="1100">
                <a:solidFill>
                  <a:srgbClr val="554133"/>
                </a:solidFill>
                <a:latin typeface="Segoe UI" panose="020B0502040204020203" charset="0"/>
                <a:cs typeface="Segoe UI" panose="020B0502040204020203" charset="0"/>
              </a:rPr>
              <a:t>
✓ Xây dựng hoàn chỉnh website TMĐT bán và cho thuê ô tô trực tuyến.
✓ Tích hợp thành công 4 dịch vụ công nghệ: GHN, SePay, MoMo, Google Mail.
✓ Thiết kế CSDL chuẩn hóa 3NF gồm 10 bảng quan hệ bảo mật cao.
✓ Giao diện trực quan, đổi màu xe thực tế, đặt lịch lái thử nhanh chóng.
✓ Đầy đủ tài liệu nộp: BaoCao.docx, BaoCao.pdf (40 trang chuẩn A4), SourceCode, Data, Output, Slide.pdf.</a:t>
            </a:r>
            <a:endParaRPr lang="vi-VN" sz="1100">
              <a:solidFill>
                <a:srgbClr val="554133"/>
              </a:solidFill>
              <a:latin typeface="Segoe UI" panose="020B0502040204020203" charset="0"/>
              <a:cs typeface="Segoe UI" panose="020B0502040204020203" charset="0"/>
            </a:endParaRPr>
          </a:p>
        </p:txBody>
      </p:sp>
      <p:sp>
        <p:nvSpPr>
          <p:cNvPr id="4" name="Rectangle 3"/>
          <p:cNvSpPr/>
          <p:nvPr/>
        </p:nvSpPr>
        <p:spPr>
          <a:xfrm>
            <a:off x="4699000" y="1397000"/>
            <a:ext cx="3810000" cy="4826000"/>
          </a:xfrm>
          <a:prstGeom prst="rect">
            <a:avLst/>
          </a:prstGeom>
          <a:solidFill>
            <a:srgbClr val="EFF6FF"/>
          </a:solidFill>
          <a:ln w="19050">
            <a:solidFill>
              <a:srgbClr val="3B82F6"/>
            </a:solidFill>
          </a:ln>
        </p:spPr>
        <p:style>
          <a:lnRef idx="2">
            <a:schemeClr val="accent1">
              <a:lumMod val="75000"/>
            </a:schemeClr>
          </a:lnRef>
          <a:fillRef idx="1">
            <a:schemeClr val="accent1"/>
          </a:fillRef>
          <a:effectRef idx="0">
            <a:srgbClr val="FFFFFF"/>
          </a:effectRef>
          <a:fontRef idx="minor">
            <a:schemeClr val="lt1"/>
          </a:fontRef>
        </p:style>
        <p:txBody>
          <a:bodyPr wrap="square" lIns="177800" tIns="152400" rIns="177800" bIns="152400" rtlCol="0" anchor="ctr"/>
          <a:p>
            <a:pPr algn="ctr"/>
            <a:r>
              <a:rPr lang="vi-VN" sz="1300" b="1">
                <a:solidFill>
                  <a:srgbClr val="2A170F"/>
                </a:solidFill>
                <a:latin typeface="Segoe UI" panose="020B0502040204020203" charset="0"/>
                <a:cs typeface="Segoe UI" panose="020B0502040204020203" charset="0"/>
              </a:rPr>
              <a:t>HƯỚNG PHÁT TRIỂN TIẾP THEO</a:t>
            </a:r>
            <a:r>
              <a:rPr lang="vi-VN" sz="1100">
                <a:solidFill>
                  <a:srgbClr val="554133"/>
                </a:solidFill>
                <a:latin typeface="Segoe UI" panose="020B0502040204020203" charset="0"/>
                <a:cs typeface="Segoe UI" panose="020B0502040204020203" charset="0"/>
              </a:rPr>
              <a:t>
• Phát triển Ứng dụng di động (Mobile App) trên iOS &amp; Android bằng Flutter.
• Tích hợp AI Computer Vision: Tự động phát hiện vết xước thân vỏ xe khi bàn giao.
• Ứng dụng công nghệ OCR quét tự động giấy tờ CCCD/GPLX để duyệt đối tác tức thì.
• Kết nối trực tuyến với các công ty bảo hiểm và ngân hàng hỗ trợ vay mua xe trả góp.</a:t>
            </a:r>
            <a:endParaRPr lang="vi-VN" sz="1100">
              <a:solidFill>
                <a:srgbClr val="554133"/>
              </a:solidFill>
              <a:latin typeface="Segoe UI" panose="020B0502040204020203" charset="0"/>
              <a:cs typeface="Segoe UI" panose="020B0502040204020203"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08000" y="1905000"/>
            <a:ext cx="8128000" cy="953135"/>
          </a:xfrm>
          <a:prstGeom prst="rect">
            <a:avLst/>
          </a:prstGeom>
          <a:noFill/>
        </p:spPr>
        <p:txBody>
          <a:bodyPr wrap="square" rtlCol="0" anchor="t">
            <a:spAutoFit/>
          </a:bodyPr>
          <a:p>
            <a:r>
              <a:rPr lang="vi-VN" sz="2800" b="1">
                <a:solidFill>
                  <a:srgbClr val="FCFAF8"/>
                </a:solidFill>
                <a:latin typeface="Segoe UI" panose="020B0502040204020203" charset="0"/>
                <a:cs typeface="Segoe UI" panose="020B0502040204020203" charset="0"/>
              </a:rPr>
              <a:t>XIN TRÂN TRỌNG CẢM ƠN!
QUÝ THẦY CÔ VÀ HỘI ĐỒNG THẨM ĐỊNH</a:t>
            </a:r>
            <a:endParaRPr lang="vi-VN" sz="2800" b="1">
              <a:solidFill>
                <a:srgbClr val="FCFAF8"/>
              </a:solidFill>
              <a:latin typeface="Segoe UI" panose="020B0502040204020203" charset="0"/>
              <a:cs typeface="Segoe UI" panose="020B0502040204020203" charset="0"/>
            </a:endParaRPr>
          </a:p>
        </p:txBody>
      </p:sp>
      <p:sp>
        <p:nvSpPr>
          <p:cNvPr id="3" name="Text Box 2"/>
          <p:cNvSpPr txBox="1"/>
          <p:nvPr/>
        </p:nvSpPr>
        <p:spPr>
          <a:xfrm>
            <a:off x="508000" y="3937000"/>
            <a:ext cx="8128000" cy="891540"/>
          </a:xfrm>
          <a:prstGeom prst="rect">
            <a:avLst/>
          </a:prstGeom>
          <a:noFill/>
        </p:spPr>
        <p:txBody>
          <a:bodyPr wrap="square" rtlCol="0" anchor="t">
            <a:spAutoFit/>
          </a:bodyPr>
          <a:p>
            <a:r>
              <a:rPr lang="vi-VN" sz="1300">
                <a:solidFill>
                  <a:srgbClr val="F8BD38"/>
                </a:solidFill>
                <a:latin typeface="Segoe UI" panose="020B0502040204020203" charset="0"/>
                <a:cs typeface="Segoe UI" panose="020B0502040204020203" charset="0"/>
              </a:rPr>
              <a:t>Kính chúc ThS. Phạm Hồng Hải và Quý Thầy Cô dồi dào sức khỏe và công tác tốt!
Nhóm sinh viên thực hiện: Hoàng Ngọc Thi - Nguyễn Việt Hòa - Nguyễn Quốc Anh - Nguyễn Viết Hoàng Anh
Lớp: DH13C2 - Khoa Công nghệ thông tin - ĐH Tài nguyên và Môi trường Hà Nội</a:t>
            </a:r>
            <a:endParaRPr lang="vi-VN" sz="1300">
              <a:solidFill>
                <a:srgbClr val="F8BD38"/>
              </a:solidFill>
              <a:latin typeface="Segoe UI" panose="020B0502040204020203" charset="0"/>
              <a:cs typeface="Segoe UI" panose="020B0502040204020203" charset="0"/>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8288</Words>
  <Application>WPS Presentation</Application>
  <PresentationFormat>Widescreen</PresentationFormat>
  <Paragraphs>96</Paragraphs>
  <Slides>15</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15</vt:i4>
      </vt:variant>
    </vt:vector>
  </HeadingPairs>
  <TitlesOfParts>
    <vt:vector size="21" baseType="lpstr">
      <vt:lpstr>Arial</vt:lpstr>
      <vt:lpstr>SimSun</vt:lpstr>
      <vt:lpstr>Wingdings</vt:lpstr>
      <vt:lpstr>Wingdings</vt:lpstr>
      <vt:lpstr>Segoe UI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Presentation</dc:title>
  <dc:creator>DELL</dc:creator>
  <cp:lastModifiedBy>Thi Hoàng</cp:lastModifiedBy>
  <cp:revision>1</cp:revision>
  <dcterms:created xsi:type="dcterms:W3CDTF">2026-10-03T15:43:33Z</dcterms:created>
  <dcterms:modified xsi:type="dcterms:W3CDTF">2026-10-03T15:43:33Z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2A93008E533248F495ACE4368C74CFA8_11</vt:lpwstr>
  </property>
</Properties>
</file>